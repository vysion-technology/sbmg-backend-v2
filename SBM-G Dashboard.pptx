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F923-0DB8-6633-66C3-4D8DF6B3F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B26F1-C402-D498-EB3D-7F829E69B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74432-818B-22DC-F2E8-5F785A4D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6FB3E-D461-6A32-727A-0BA2C1AC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4B38-3E34-CA7C-FFDC-1EA007F2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9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C531-2B3B-D4D1-770F-C2F68D567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7788-6878-6AFE-4BF1-EDD5715EC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E7ECC-5AFB-8A0B-3A2F-B7F1AEAF5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696A5-78FE-8CE6-4C51-6BD1C500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AC242-27F8-F322-DC62-C1A4EF8B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7B38-E99C-D98F-BC97-8D4B83742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B1E40-BCDC-2C33-CDC6-FB44AA885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7854D-CD46-8629-C07A-F9E257B9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D97B8-BA0D-5E80-E38E-6CFBC661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6AFF9-7340-DC3D-2886-8EF7C070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7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8DC7-7C8B-1F03-216B-AD164B1F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6F360-F8A0-D1A3-EAAD-E3857B6AE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28B2A-02B2-8949-7DE2-8A0CAE05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B372C-5FBA-460C-946F-1E07346A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1E977-44AB-13B7-A262-A56581E8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17A9F-517D-3B04-0AC2-149500D7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14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76B5-D37A-58DB-CDD4-FEE8541C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F0611-0C4F-0A0E-AFF7-4EB7C9A06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9C2A0-FB94-B5B9-92C5-95E65AAA0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788835-DCD4-87A3-9CA5-8F4F9CF11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C63C5-5C09-3E12-8BF8-3D0C9C0B1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5F11DF-4CB4-F148-B449-FE1C9CCA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55F77-0B4F-5D33-80BF-FD611A6F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FFD6C-69F6-3408-EDCB-FBFE4B12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4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5286-982C-C87A-A853-B7B7B823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F1E65-7279-EA19-0B87-0EE65F2B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8CF27-940A-0CD1-1902-AB4B3822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3A506-8677-D6D3-C91F-A13BCE8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30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7BC87-60DD-9E55-1C74-2E7359B2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CDA91-BA14-0B36-4526-591E6A09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70027-2772-6BDF-DB33-ABF45DE5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F3C4-92FE-ECA4-D6D2-3E1A1904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8A11-8613-A605-85AF-DE6A36AB6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3BEB1-AE0D-7734-7136-DE076A75B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F656A-2FC4-7493-3AD7-AD8491DF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CE62C-1C59-EF5B-C305-A0E4846C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8D1D5-7176-D740-0390-6371F829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3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B716-94B7-D606-5848-49982596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269B4-E469-B804-0BC0-B0784B4FA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637CC-4963-0BDD-34F3-B73F5C85C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C47F6-2737-BACC-3E2B-87313A3D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142-C3D8-AE18-EA18-A779EF58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0C381-1EB7-64E2-2506-D1DC88FE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2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FAE9-7ABA-34F9-F085-E27D7BFB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EA08A-B555-F1D1-A18B-67F3EEFB9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B9134-AA7F-25B5-EE3D-51E6661A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586F-21E7-BD12-F4D7-2B2618C3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2886-2E52-5297-50E2-70781A5D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7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E2B74-1301-5D8E-234D-991F4E080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2D1C1-4E15-9AFA-FCCB-065AE59D0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2E33C-613B-4790-8CD8-2E504B578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6E98E-F5D7-9C91-A857-4BE4EAC4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2C096-F960-26CB-7D5B-B8D9A67E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8A591E-6031-6BEC-F2F9-31C5F774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05EE1-AB31-46B8-BD4C-92F92F511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DBA35-C077-9869-0A96-99B59F5BC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6841F-441A-4FF2-A731-07CD94BAE776}" type="datetimeFigureOut">
              <a:rPr lang="en-US" smtClean="0"/>
              <a:t>25/03/2026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EFAE1-F191-C0DC-5B11-2C9EEB2AD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B1A1-AEB6-3C62-11B2-6BBF15EF9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70C4-06AF-4C04-B761-2907D2A51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9B2933-FDF5-EFFC-2A99-C1ADDE336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8980"/>
              </p:ext>
            </p:extLst>
          </p:nvPr>
        </p:nvGraphicFramePr>
        <p:xfrm>
          <a:off x="436665" y="212630"/>
          <a:ext cx="5207050" cy="1357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6598">
                  <a:extLst>
                    <a:ext uri="{9D8B030D-6E8A-4147-A177-3AD203B41FA5}">
                      <a16:colId xmlns:a16="http://schemas.microsoft.com/office/drawing/2014/main" val="2085393668"/>
                    </a:ext>
                  </a:extLst>
                </a:gridCol>
                <a:gridCol w="2869408">
                  <a:extLst>
                    <a:ext uri="{9D8B030D-6E8A-4147-A177-3AD203B41FA5}">
                      <a16:colId xmlns:a16="http://schemas.microsoft.com/office/drawing/2014/main" val="1866176248"/>
                    </a:ext>
                  </a:extLst>
                </a:gridCol>
                <a:gridCol w="1111044">
                  <a:extLst>
                    <a:ext uri="{9D8B030D-6E8A-4147-A177-3AD203B41FA5}">
                      <a16:colId xmlns:a16="http://schemas.microsoft.com/office/drawing/2014/main" val="702081368"/>
                    </a:ext>
                  </a:extLst>
                </a:gridCol>
              </a:tblGrid>
              <a:tr h="28364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ODF Sustainability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IHHL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8602045</a:t>
                      </a: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1357027477"/>
                  </a:ext>
                </a:extLst>
              </a:tr>
              <a:tr h="6396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Community Sanitary complex  (CSC) 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28152</a:t>
                      </a: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603817986"/>
                  </a:ext>
                </a:extLst>
              </a:tr>
              <a:tr h="33707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CSCs in Shala Darpan (Schools)</a:t>
                      </a: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276250509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45825C-DE41-0195-226A-3F39FCFA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470779"/>
              </p:ext>
            </p:extLst>
          </p:nvPr>
        </p:nvGraphicFramePr>
        <p:xfrm>
          <a:off x="436665" y="1700982"/>
          <a:ext cx="5285707" cy="2362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065">
                  <a:extLst>
                    <a:ext uri="{9D8B030D-6E8A-4147-A177-3AD203B41FA5}">
                      <a16:colId xmlns:a16="http://schemas.microsoft.com/office/drawing/2014/main" val="2085393668"/>
                    </a:ext>
                  </a:extLst>
                </a:gridCol>
                <a:gridCol w="2871270">
                  <a:extLst>
                    <a:ext uri="{9D8B030D-6E8A-4147-A177-3AD203B41FA5}">
                      <a16:colId xmlns:a16="http://schemas.microsoft.com/office/drawing/2014/main" val="1866176248"/>
                    </a:ext>
                  </a:extLst>
                </a:gridCol>
                <a:gridCol w="1150372">
                  <a:extLst>
                    <a:ext uri="{9D8B030D-6E8A-4147-A177-3AD203B41FA5}">
                      <a16:colId xmlns:a16="http://schemas.microsoft.com/office/drawing/2014/main" val="1542551992"/>
                    </a:ext>
                  </a:extLst>
                </a:gridCol>
              </a:tblGrid>
              <a:tr h="321304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Solid Waste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Segregation Bins at HH Level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40102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7027477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Segregation Bins at public places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48692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3817986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Community Compost Pit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69523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4351992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Segregation Sheds (RRC)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38282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8066392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Tricycles (Manual)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34732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2000274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E-Rickshaws/Battery operated Vehicles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6236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6994560"/>
                  </a:ext>
                </a:extLst>
              </a:tr>
              <a:tr h="321304">
                <a:tc vMerge="1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Motorized Vehicle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4704891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B1E4BA-33B7-066D-8D49-BB5BB082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30227"/>
              </p:ext>
            </p:extLst>
          </p:nvPr>
        </p:nvGraphicFramePr>
        <p:xfrm>
          <a:off x="5972229" y="212630"/>
          <a:ext cx="5783106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3017">
                  <a:extLst>
                    <a:ext uri="{9D8B030D-6E8A-4147-A177-3AD203B41FA5}">
                      <a16:colId xmlns:a16="http://schemas.microsoft.com/office/drawing/2014/main" val="2085393668"/>
                    </a:ext>
                  </a:extLst>
                </a:gridCol>
                <a:gridCol w="1549215">
                  <a:extLst>
                    <a:ext uri="{9D8B030D-6E8A-4147-A177-3AD203B41FA5}">
                      <a16:colId xmlns:a16="http://schemas.microsoft.com/office/drawing/2014/main" val="1866176248"/>
                    </a:ext>
                  </a:extLst>
                </a:gridCol>
                <a:gridCol w="1925728">
                  <a:extLst>
                    <a:ext uri="{9D8B030D-6E8A-4147-A177-3AD203B41FA5}">
                      <a16:colId xmlns:a16="http://schemas.microsoft.com/office/drawing/2014/main" val="279218031"/>
                    </a:ext>
                  </a:extLst>
                </a:gridCol>
                <a:gridCol w="925146">
                  <a:extLst>
                    <a:ext uri="{9D8B030D-6E8A-4147-A177-3AD203B41FA5}">
                      <a16:colId xmlns:a16="http://schemas.microsoft.com/office/drawing/2014/main" val="1659939831"/>
                    </a:ext>
                  </a:extLst>
                </a:gridCol>
              </a:tblGrid>
              <a:tr h="215170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Plastic Waste Management Unit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(PWMUs)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Established PWMU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7027477"/>
                  </a:ext>
                </a:extLst>
              </a:tr>
              <a:tr h="215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Blocks Covered Under PWMU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67335695"/>
                  </a:ext>
                </a:extLst>
              </a:tr>
              <a:tr h="215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Urban MRFs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32084595"/>
                  </a:ext>
                </a:extLst>
              </a:tr>
              <a:tr h="2151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Blocks Covered Under Urban MRFs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39810722"/>
                  </a:ext>
                </a:extLst>
              </a:tr>
              <a:tr h="73660">
                <a:tc rowSpan="7"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FSM</a:t>
                      </a: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 of twin pits Toilets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1921914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3817986"/>
                  </a:ext>
                </a:extLst>
              </a:tr>
              <a:tr h="147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 of Single pits Toilets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1531901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67941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No. of Septic bank Toilets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311435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25886185"/>
                  </a:ext>
                </a:extLst>
              </a:tr>
              <a:tr h="73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of Retrofitted toilets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94421963"/>
                  </a:ext>
                </a:extLst>
              </a:tr>
              <a:tr h="1473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Mechanized De-Sludging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0182950"/>
                  </a:ext>
                </a:extLst>
              </a:tr>
              <a:tr h="1104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No. of FSTPs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Rural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23644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9499612"/>
                  </a:ext>
                </a:extLst>
              </a:tr>
              <a:tr h="148734">
                <a:tc>
                  <a:txBody>
                    <a:bodyPr/>
                    <a:lstStyle/>
                    <a:p>
                      <a:pPr algn="ctr"/>
                      <a:r>
                        <a:rPr 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GOBAR-</a:t>
                      </a:r>
                      <a:r>
                        <a:rPr lang="en-US" sz="14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dhan</a:t>
                      </a:r>
                      <a:endParaRPr lang="en-US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GOBAR-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dhan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Project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5200027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70A3D31-3BEC-3C8E-3936-90F8CFFB1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24014"/>
              </p:ext>
            </p:extLst>
          </p:nvPr>
        </p:nvGraphicFramePr>
        <p:xfrm>
          <a:off x="436665" y="4119715"/>
          <a:ext cx="5285708" cy="2157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8302">
                  <a:extLst>
                    <a:ext uri="{9D8B030D-6E8A-4147-A177-3AD203B41FA5}">
                      <a16:colId xmlns:a16="http://schemas.microsoft.com/office/drawing/2014/main" val="2085393668"/>
                    </a:ext>
                  </a:extLst>
                </a:gridCol>
                <a:gridCol w="2837368">
                  <a:extLst>
                    <a:ext uri="{9D8B030D-6E8A-4147-A177-3AD203B41FA5}">
                      <a16:colId xmlns:a16="http://schemas.microsoft.com/office/drawing/2014/main" val="1866176248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1333924073"/>
                    </a:ext>
                  </a:extLst>
                </a:gridCol>
              </a:tblGrid>
              <a:tr h="325409"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Liquid Waste Management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Soak/Magic/Leach pits at HH Level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47673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7027477"/>
                  </a:ext>
                </a:extLst>
              </a:tr>
              <a:tr h="395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Community Soak/Magic/Leach pits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237218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3817986"/>
                  </a:ext>
                </a:extLst>
              </a:tr>
              <a:tr h="3254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WSP (Waste Stabilization Pond)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172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4351992"/>
                  </a:ext>
                </a:extLst>
              </a:tr>
              <a:tr h="277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Dewats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8066392"/>
                  </a:ext>
                </a:extLst>
              </a:tr>
              <a:tr h="277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Wetland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3760261"/>
                  </a:ext>
                </a:extLst>
              </a:tr>
              <a:tr h="277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Any Other (Trenching,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Phytorids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etc.)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86295394"/>
                  </a:ext>
                </a:extLst>
              </a:tr>
              <a:tr h="2776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Drainage channels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1746.47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58090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E49084-1F21-2CA7-56BD-B156DF8AE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31446"/>
              </p:ext>
            </p:extLst>
          </p:nvPr>
        </p:nvGraphicFramePr>
        <p:xfrm>
          <a:off x="5972229" y="3087312"/>
          <a:ext cx="5783106" cy="31895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593">
                  <a:extLst>
                    <a:ext uri="{9D8B030D-6E8A-4147-A177-3AD203B41FA5}">
                      <a16:colId xmlns:a16="http://schemas.microsoft.com/office/drawing/2014/main" val="2085393668"/>
                    </a:ext>
                  </a:extLst>
                </a:gridCol>
                <a:gridCol w="1598320">
                  <a:extLst>
                    <a:ext uri="{9D8B030D-6E8A-4147-A177-3AD203B41FA5}">
                      <a16:colId xmlns:a16="http://schemas.microsoft.com/office/drawing/2014/main" val="1866176248"/>
                    </a:ext>
                  </a:extLst>
                </a:gridCol>
                <a:gridCol w="2013490">
                  <a:extLst>
                    <a:ext uri="{9D8B030D-6E8A-4147-A177-3AD203B41FA5}">
                      <a16:colId xmlns:a16="http://schemas.microsoft.com/office/drawing/2014/main" val="1145924674"/>
                    </a:ext>
                  </a:extLst>
                </a:gridCol>
                <a:gridCol w="772703">
                  <a:extLst>
                    <a:ext uri="{9D8B030D-6E8A-4147-A177-3AD203B41FA5}">
                      <a16:colId xmlns:a16="http://schemas.microsoft.com/office/drawing/2014/main" val="1648036552"/>
                    </a:ext>
                  </a:extLst>
                </a:gridCol>
              </a:tblGrid>
              <a:tr h="263632">
                <a:tc rowSpan="1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Door to Door Waste Collection, Segregation &amp; Disposal Activities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0" marR="7240" marT="724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GPs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11214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57027477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Work Sanctioned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Tender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8850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3817986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Self by GPs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1611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37823942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CSR/NGOs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3692563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SHGs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537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02600654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Status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Work Start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8938898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Work Running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9573976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Work Completed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15057766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Expenditure Amt. (Rs in Lakhs)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4738.51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4797029"/>
                  </a:ext>
                </a:extLst>
              </a:tr>
              <a:tr h="442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Vehicles for Collection and transportation of waste 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44448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54351992"/>
                  </a:ext>
                </a:extLst>
              </a:tr>
              <a:tr h="224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Persons Deployed (Sanitation Worker)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28066392"/>
                  </a:ext>
                </a:extLst>
              </a:tr>
              <a:tr h="2495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No. of House Hold Covered</a:t>
                      </a: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3760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040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273</Words>
  <Application>Microsoft Office PowerPoint</Application>
  <PresentationFormat>Widescreen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Kamlesh MIS</dc:creator>
  <cp:lastModifiedBy>Kamlesh MIS</cp:lastModifiedBy>
  <cp:revision>8</cp:revision>
  <dcterms:created xsi:type="dcterms:W3CDTF">2026-03-23T10:25:54Z</dcterms:created>
  <dcterms:modified xsi:type="dcterms:W3CDTF">2026-03-25T16:10:39Z</dcterms:modified>
</cp:coreProperties>
</file>